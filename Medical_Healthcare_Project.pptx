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6c8ba7c-894c-e72f-5b7d-e3508bd55cff}">
          <p14:sldIdLst>
            <p14:sldId id="256"/>
          </p14:sldIdLst>
        </p14:section>
        <p14:section name="Context" id="{95abd191-33c2-bb73-9804-078957f3eff6}">
          <p14:sldIdLst>
            <p14:sldId id="257"/>
            <p14:sldId id="258"/>
          </p14:sldIdLst>
        </p14:section>
        <p14:section name="Solution" id="{724d4892-ba6b-30a9-f2f9-f11d86fde8ac}">
          <p14:sldIdLst>
            <p14:sldId id="259"/>
          </p14:sldIdLst>
        </p14:section>
        <p14:section name="Architecture" id="{fde55644-3277-4cdd-b89c-9d0f0d3b6e8e}">
          <p14:sldIdLst>
            <p14:sldId id="260"/>
            <p14:sldId id="261"/>
            <p14:sldId id="262"/>
          </p14:sldIdLst>
        </p14:section>
        <p14:section name="Value" id="{1e2bbcc1-d6b9-61fa-2c77-b4a0b89f5944}">
          <p14:sldIdLst>
            <p14:sldId id="263"/>
            <p14:sldId id="264"/>
          </p14:sldIdLst>
        </p14:section>
        <p14:section name="Delivery" id="{eac3bce2-3fc9-7b6c-6ba7-8c03eb1e3e6b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005840"/>
            <a:ext cx="5212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MEDOPS INTELLIGENCE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2" type="title" hasCustomPrompt="1"/>
          </p:nvPr>
        </p:nvSpPr>
        <p:spPr>
          <a:xfrm>
            <a:off x="548640" y="10058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 Intelligence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Decision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7315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Vivek Gautham   •   Batch 3</a:t>
            </a:r>
            <a:endParaRPr lang="en-US" sz="1200" dirty="0"/>
          </a:p>
        </p:txBody>
      </p:sp>
      <p:sp>
        <p:nvSpPr>
          <p:cNvPr id="7" name="Healthcare badge"/>
          <p:cNvSpPr/>
          <p:nvPr/>
        </p:nvSpPr>
        <p:spPr>
          <a:xfrm>
            <a:off x="6903720" y="1874520"/>
            <a:ext cx="1371600" cy="137160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8" name="Image 0" descr="Healthc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217420"/>
            <a:ext cx="685800" cy="685800"/>
          </a:xfrm>
          <a:prstGeom prst="rect">
            <a:avLst/>
          </a:prstGeom>
        </p:spPr>
      </p:pic>
      <p:sp>
        <p:nvSpPr>
          <p:cNvPr id="9" name="Beds badge"/>
          <p:cNvSpPr/>
          <p:nvPr/>
        </p:nvSpPr>
        <p:spPr>
          <a:xfrm>
            <a:off x="6217920" y="82296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0" name="Image 1" descr="Be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365760" cy="365760"/>
          </a:xfrm>
          <a:prstGeom prst="rect">
            <a:avLst/>
          </a:prstGeom>
        </p:spPr>
      </p:pic>
      <p:sp>
        <p:nvSpPr>
          <p:cNvPr id="11" name="Analytics badge"/>
          <p:cNvSpPr/>
          <p:nvPr/>
        </p:nvSpPr>
        <p:spPr>
          <a:xfrm>
            <a:off x="7863840" y="82296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2" name="Image 2" descr="Analy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05840"/>
            <a:ext cx="365760" cy="365760"/>
          </a:xfrm>
          <a:prstGeom prst="rect">
            <a:avLst/>
          </a:prstGeom>
        </p:spPr>
      </p:pic>
      <p:sp>
        <p:nvSpPr>
          <p:cNvPr id="13" name="Care badge"/>
          <p:cNvSpPr/>
          <p:nvPr/>
        </p:nvSpPr>
        <p:spPr>
          <a:xfrm>
            <a:off x="6217920" y="365760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4" name="Image 3" descr="C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365760" cy="365760"/>
          </a:xfrm>
          <a:prstGeom prst="rect">
            <a:avLst/>
          </a:prstGeom>
        </p:spPr>
      </p:pic>
      <p:sp>
        <p:nvSpPr>
          <p:cNvPr id="15" name="Data badge"/>
          <p:cNvSpPr/>
          <p:nvPr/>
        </p:nvSpPr>
        <p:spPr>
          <a:xfrm>
            <a:off x="7863840" y="365760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6" name="Image 4" descr="Dat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4864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MEDOPS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operational data to better decisions</a:t>
            </a:r>
            <a:endParaRPr lang="en-US" sz="2400" dirty="0"/>
          </a:p>
        </p:txBody>
      </p:sp>
      <p:sp>
        <p:nvSpPr>
          <p:cNvPr id="4" name="Appointments"/>
          <p:cNvSpPr/>
          <p:nvPr/>
        </p:nvSpPr>
        <p:spPr>
          <a:xfrm>
            <a:off x="54864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Appointments badge"/>
          <p:cNvSpPr/>
          <p:nvPr/>
        </p:nvSpPr>
        <p:spPr>
          <a:xfrm>
            <a:off x="1074420" y="155448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6" name="Image 0" descr="Appoint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762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8" name="Beds"/>
          <p:cNvSpPr/>
          <p:nvPr/>
        </p:nvSpPr>
        <p:spPr>
          <a:xfrm>
            <a:off x="228600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Beds badge"/>
          <p:cNvSpPr/>
          <p:nvPr/>
        </p:nvSpPr>
        <p:spPr>
          <a:xfrm>
            <a:off x="2811780" y="155448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10" name="Image 1" descr="Be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0" y="21762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300" dirty="0"/>
          </a:p>
        </p:txBody>
      </p:sp>
      <p:sp>
        <p:nvSpPr>
          <p:cNvPr id="12" name="Staffing"/>
          <p:cNvSpPr/>
          <p:nvPr/>
        </p:nvSpPr>
        <p:spPr>
          <a:xfrm>
            <a:off x="4023360" y="137160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Staffing badge"/>
          <p:cNvSpPr/>
          <p:nvPr/>
        </p:nvSpPr>
        <p:spPr>
          <a:xfrm>
            <a:off x="4549140" y="155448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14" name="Image 2" descr="Staff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6916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23360" y="21762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6" name="Billing"/>
          <p:cNvSpPr/>
          <p:nvPr/>
        </p:nvSpPr>
        <p:spPr>
          <a:xfrm>
            <a:off x="548640" y="278892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Billing badge"/>
          <p:cNvSpPr/>
          <p:nvPr/>
        </p:nvSpPr>
        <p:spPr>
          <a:xfrm>
            <a:off x="1074420" y="297180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18" name="Image 3" descr="Bill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" y="3108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" y="3593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20" name="Inventory"/>
          <p:cNvSpPr/>
          <p:nvPr/>
        </p:nvSpPr>
        <p:spPr>
          <a:xfrm>
            <a:off x="2286000" y="278892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1" name="Inventory badge"/>
          <p:cNvSpPr/>
          <p:nvPr/>
        </p:nvSpPr>
        <p:spPr>
          <a:xfrm>
            <a:off x="2811780" y="297180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22" name="Image 4" descr="Invent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940" y="31089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286000" y="3593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4" name="Admissions"/>
          <p:cNvSpPr/>
          <p:nvPr/>
        </p:nvSpPr>
        <p:spPr>
          <a:xfrm>
            <a:off x="4023360" y="2788920"/>
            <a:ext cx="1600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5" name="Admissions badge"/>
          <p:cNvSpPr/>
          <p:nvPr/>
        </p:nvSpPr>
        <p:spPr>
          <a:xfrm>
            <a:off x="4549140" y="297180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26" name="Image 5" descr="Admissio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1089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23360" y="3593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760720" y="2743200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Dashboard"/>
          <p:cNvSpPr/>
          <p:nvPr/>
        </p:nvSpPr>
        <p:spPr>
          <a:xfrm>
            <a:off x="6263640" y="1371600"/>
            <a:ext cx="2331720" cy="269748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/>
        </p:spPr>
      </p:sp>
      <p:sp>
        <p:nvSpPr>
          <p:cNvPr id="30" name="Dashboard badge"/>
          <p:cNvSpPr/>
          <p:nvPr/>
        </p:nvSpPr>
        <p:spPr>
          <a:xfrm>
            <a:off x="6995160" y="1760220"/>
            <a:ext cx="868680" cy="86868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31" name="Image 6" descr="Dashbo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330" y="1977390"/>
            <a:ext cx="434340" cy="4343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355080" y="2880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dashboard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3550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 •  APIs  •  Visual analytics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KPIs easier to monitor and interpret.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hard to see in one place</a:t>
            </a:r>
            <a:endParaRPr lang="en-US" sz="2400" dirty="0"/>
          </a:p>
        </p:txBody>
      </p:sp>
      <p:sp>
        <p:nvSpPr>
          <p:cNvPr id="4" name="Fragmented data"/>
          <p:cNvSpPr/>
          <p:nvPr/>
        </p:nvSpPr>
        <p:spPr>
          <a:xfrm>
            <a:off x="548640" y="1371600"/>
            <a:ext cx="1874520" cy="21488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5" name="Fragmented data badge"/>
          <p:cNvSpPr/>
          <p:nvPr/>
        </p:nvSpPr>
        <p:spPr>
          <a:xfrm>
            <a:off x="1097280" y="1623060"/>
            <a:ext cx="777240" cy="777240"/>
          </a:xfrm>
          <a:prstGeom prst="ellipse">
            <a:avLst/>
          </a:prstGeom>
          <a:solidFill>
            <a:srgbClr val="D9634A"/>
          </a:solidFill>
          <a:ln/>
        </p:spPr>
      </p:sp>
      <p:pic>
        <p:nvPicPr>
          <p:cNvPr id="6" name="Image 0" descr="Fragmented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8173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beds, staff and finance sit apart</a:t>
            </a:r>
            <a:endParaRPr lang="en-US" sz="1100" dirty="0"/>
          </a:p>
        </p:txBody>
      </p:sp>
      <p:sp>
        <p:nvSpPr>
          <p:cNvPr id="9" name="Delayed insight"/>
          <p:cNvSpPr/>
          <p:nvPr/>
        </p:nvSpPr>
        <p:spPr>
          <a:xfrm>
            <a:off x="2606040" y="1371600"/>
            <a:ext cx="1874520" cy="21488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0" name="Delayed insight badge"/>
          <p:cNvSpPr/>
          <p:nvPr/>
        </p:nvSpPr>
        <p:spPr>
          <a:xfrm>
            <a:off x="3154680" y="16230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Delayed ins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0" y="18173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found too late</a:t>
            </a:r>
            <a:endParaRPr lang="en-US" sz="1100" dirty="0"/>
          </a:p>
        </p:txBody>
      </p:sp>
      <p:sp>
        <p:nvSpPr>
          <p:cNvPr id="14" name="Manual reporting"/>
          <p:cNvSpPr/>
          <p:nvPr/>
        </p:nvSpPr>
        <p:spPr>
          <a:xfrm>
            <a:off x="4663440" y="1371600"/>
            <a:ext cx="1874520" cy="21488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5" name="Manual reporting badge"/>
          <p:cNvSpPr/>
          <p:nvPr/>
        </p:nvSpPr>
        <p:spPr>
          <a:xfrm>
            <a:off x="5212080" y="1623060"/>
            <a:ext cx="777240" cy="777240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6" name="Image 2" descr="Manual repor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90" y="18173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static analysis</a:t>
            </a:r>
            <a:endParaRPr lang="en-US" sz="1100" dirty="0"/>
          </a:p>
        </p:txBody>
      </p:sp>
      <p:sp>
        <p:nvSpPr>
          <p:cNvPr id="19" name="No unified view"/>
          <p:cNvSpPr/>
          <p:nvPr/>
        </p:nvSpPr>
        <p:spPr>
          <a:xfrm>
            <a:off x="6720840" y="1371600"/>
            <a:ext cx="1874520" cy="21488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0" name="No unified view badge"/>
          <p:cNvSpPr/>
          <p:nvPr/>
        </p:nvSpPr>
        <p:spPr>
          <a:xfrm>
            <a:off x="7269480" y="1623060"/>
            <a:ext cx="777240" cy="777240"/>
          </a:xfrm>
          <a:prstGeom prst="ellipse">
            <a:avLst/>
          </a:prstGeom>
          <a:solidFill>
            <a:srgbClr val="6B7A8F"/>
          </a:solidFill>
          <a:ln/>
        </p:spPr>
      </p:sp>
      <p:pic>
        <p:nvPicPr>
          <p:cNvPr id="21" name="Image 3" descr="No unified vie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790" y="18173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performance</a:t>
            </a:r>
            <a:endParaRPr lang="en-US" sz="1100" dirty="0"/>
          </a:p>
        </p:txBody>
      </p:sp>
      <p:sp>
        <p:nvSpPr>
          <p:cNvPr id="24" name="Need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25" name="Need badge"/>
          <p:cNvSpPr/>
          <p:nvPr/>
        </p:nvSpPr>
        <p:spPr>
          <a:xfrm>
            <a:off x="822960" y="3863340"/>
            <a:ext cx="548640" cy="5486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26" name="Image 4" descr="Ne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0005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3749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need one integrated view to spot inefficiencies and decide faster.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PROPOSED SOLUTION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operational intelligence workflow</a:t>
            </a:r>
            <a:endParaRPr lang="en-US" sz="2400" dirty="0"/>
          </a:p>
        </p:txBody>
      </p:sp>
      <p:sp>
        <p:nvSpPr>
          <p:cNvPr id="4" name="Amazon S3"/>
          <p:cNvSpPr/>
          <p:nvPr/>
        </p:nvSpPr>
        <p:spPr>
          <a:xfrm>
            <a:off x="548640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Amazon S3 badge"/>
          <p:cNvSpPr/>
          <p:nvPr/>
        </p:nvSpPr>
        <p:spPr>
          <a:xfrm>
            <a:off x="845820" y="1737360"/>
            <a:ext cx="822960" cy="82296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6" name="Image 0" descr="Amazon S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431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lake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93392" y="2651760"/>
            <a:ext cx="182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115568" y="132588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15568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AWS Glue"/>
          <p:cNvSpPr/>
          <p:nvPr/>
        </p:nvSpPr>
        <p:spPr>
          <a:xfrm>
            <a:off x="2203704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AWS Glue badge"/>
          <p:cNvSpPr/>
          <p:nvPr/>
        </p:nvSpPr>
        <p:spPr>
          <a:xfrm>
            <a:off x="2500884" y="1737360"/>
            <a:ext cx="822960" cy="822960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4" name="Image 1" descr="AWS G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9431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49424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249424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crawlers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48456" y="2651760"/>
            <a:ext cx="182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770632" y="132588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2770632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Amazon Athena"/>
          <p:cNvSpPr/>
          <p:nvPr/>
        </p:nvSpPr>
        <p:spPr>
          <a:xfrm>
            <a:off x="3858768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Amazon Athena badge"/>
          <p:cNvSpPr/>
          <p:nvPr/>
        </p:nvSpPr>
        <p:spPr>
          <a:xfrm>
            <a:off x="4155948" y="1737360"/>
            <a:ext cx="822960" cy="822960"/>
          </a:xfrm>
          <a:prstGeom prst="ellipse">
            <a:avLst/>
          </a:prstGeom>
          <a:solidFill>
            <a:srgbClr val="5BB5A2"/>
          </a:solidFill>
          <a:ln/>
        </p:spPr>
      </p:sp>
      <p:pic>
        <p:nvPicPr>
          <p:cNvPr id="22" name="Image 2" descr="Amazon Athen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94310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904488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904488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303520" y="2651760"/>
            <a:ext cx="182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4425696" y="132588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425696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FastAPI + React"/>
          <p:cNvSpPr/>
          <p:nvPr/>
        </p:nvSpPr>
        <p:spPr>
          <a:xfrm>
            <a:off x="5513832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FastAPI + React badge"/>
          <p:cNvSpPr/>
          <p:nvPr/>
        </p:nvSpPr>
        <p:spPr>
          <a:xfrm>
            <a:off x="5811012" y="1737360"/>
            <a:ext cx="822960" cy="8229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0" name="Image 3" descr="FastAPI + Rea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94310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559552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55955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web UI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958584" y="2651760"/>
            <a:ext cx="182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6080760" y="132588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0807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KPIs &amp; AI"/>
          <p:cNvSpPr/>
          <p:nvPr/>
        </p:nvSpPr>
        <p:spPr>
          <a:xfrm>
            <a:off x="7168896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7" name="KPIs &amp; AI badge"/>
          <p:cNvSpPr/>
          <p:nvPr/>
        </p:nvSpPr>
        <p:spPr>
          <a:xfrm>
            <a:off x="7466076" y="17373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8" name="Image 4" descr="KPIs &amp; 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943100"/>
            <a:ext cx="411480" cy="41148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214616" y="2788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AI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7214616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summaries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7735824" y="132588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7735824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catalog  →  query  →  application  →  decisions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SYSTEM ARCHITECTURE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4" name="User"/>
          <p:cNvSpPr/>
          <p:nvPr/>
        </p:nvSpPr>
        <p:spPr>
          <a:xfrm>
            <a:off x="457200" y="2103120"/>
            <a:ext cx="1097280" cy="960120"/>
          </a:xfrm>
          <a:prstGeom prst="roundRect">
            <a:avLst>
              <a:gd name="adj" fmla="val 7619"/>
            </a:avLst>
          </a:prstGeom>
          <a:solidFill>
            <a:srgbClr val="0F2340"/>
          </a:solidFill>
          <a:ln/>
        </p:spPr>
      </p:sp>
      <p:pic>
        <p:nvPicPr>
          <p:cNvPr id="5" name="Image 0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578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8" name="React Frontend"/>
          <p:cNvSpPr/>
          <p:nvPr/>
        </p:nvSpPr>
        <p:spPr>
          <a:xfrm>
            <a:off x="2011680" y="21031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A9AA0"/>
          </a:solidFill>
          <a:ln/>
        </p:spPr>
      </p:sp>
      <p:pic>
        <p:nvPicPr>
          <p:cNvPr id="9" name="Image 1" descr="React Front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194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Vite</a:t>
            </a:r>
            <a:endParaRPr lang="en-US" sz="900" dirty="0"/>
          </a:p>
        </p:txBody>
      </p:sp>
      <p:sp>
        <p:nvSpPr>
          <p:cNvPr id="12" name="FastAPI"/>
          <p:cNvSpPr/>
          <p:nvPr/>
        </p:nvSpPr>
        <p:spPr>
          <a:xfrm>
            <a:off x="4114800" y="210312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1B3A5C"/>
          </a:solidFill>
          <a:ln/>
        </p:spPr>
      </p:sp>
      <p:pic>
        <p:nvPicPr>
          <p:cNvPr id="13" name="Image 2" descr="FastA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945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14800" y="2578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114800" y="2788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1554480" y="2578608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566160" y="2578608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3566160" y="2331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19" name="AWS STS · OIDC"/>
          <p:cNvSpPr/>
          <p:nvPr/>
        </p:nvSpPr>
        <p:spPr>
          <a:xfrm>
            <a:off x="411480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pic>
        <p:nvPicPr>
          <p:cNvPr id="20" name="Image 3" descr="AWS STS · OID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14800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STS · OIDC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846320" y="182880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4919472" y="1892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credentials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6035040" y="118872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5" name="Text 19"/>
          <p:cNvSpPr txBox="1"/>
          <p:nvPr/>
        </p:nvSpPr>
        <p:spPr>
          <a:xfrm>
            <a:off x="6035040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 SERVICES</a:t>
            </a:r>
            <a:endParaRPr lang="en-US" sz="900" dirty="0"/>
          </a:p>
        </p:txBody>
      </p:sp>
      <p:sp>
        <p:nvSpPr>
          <p:cNvPr id="26" name="S3"/>
          <p:cNvSpPr/>
          <p:nvPr/>
        </p:nvSpPr>
        <p:spPr>
          <a:xfrm>
            <a:off x="6126480" y="1554480"/>
            <a:ext cx="731520" cy="11887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27" name="Image 4" descr="S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12648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9" name="Glue"/>
          <p:cNvSpPr/>
          <p:nvPr/>
        </p:nvSpPr>
        <p:spPr>
          <a:xfrm>
            <a:off x="6949440" y="1554480"/>
            <a:ext cx="731520" cy="11887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30" name="Image 5" descr="Gl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6916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1100" dirty="0"/>
          </a:p>
        </p:txBody>
      </p:sp>
      <p:sp>
        <p:nvSpPr>
          <p:cNvPr id="32" name="Athena"/>
          <p:cNvSpPr/>
          <p:nvPr/>
        </p:nvSpPr>
        <p:spPr>
          <a:xfrm>
            <a:off x="7772400" y="1554480"/>
            <a:ext cx="731520" cy="11887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33" name="Image 6" descr="Athen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69164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77240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577840" y="237744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4846320" y="306324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846320" y="3520440"/>
            <a:ext cx="11887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8" name="Bedrock"/>
          <p:cNvSpPr/>
          <p:nvPr/>
        </p:nvSpPr>
        <p:spPr>
          <a:xfrm>
            <a:off x="6035040" y="31089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pic>
        <p:nvPicPr>
          <p:cNvPr id="39" name="Image 7" descr="A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337560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6751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AI</a:t>
            </a:r>
            <a:endParaRPr lang="en-US" sz="1200" dirty="0"/>
          </a:p>
        </p:txBody>
      </p:sp>
      <p:sp>
        <p:nvSpPr>
          <p:cNvPr id="41" name="Security"/>
          <p:cNvSpPr/>
          <p:nvPr/>
        </p:nvSpPr>
        <p:spPr>
          <a:xfrm>
            <a:off x="548640" y="4206240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pic>
        <p:nvPicPr>
          <p:cNvPr id="42" name="Image 8" descr="Lo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315968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430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credentials stay server-side — the browser never sees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REQUEST / RESPONSE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request, end to 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0" cy="30175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057400" y="123444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574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600200"/>
            <a:ext cx="0" cy="30175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0" y="123444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0" cy="30175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257800" y="123444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/ Glue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600200"/>
            <a:ext cx="0" cy="30175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858000" y="123444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600200"/>
            <a:ext cx="0" cy="30175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97280" y="1920240"/>
            <a:ext cx="1600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371600" y="17007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6696" y="1819656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6696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97480" y="2304288"/>
            <a:ext cx="1600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971800" y="20848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request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96896" y="2203704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96896" y="2203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97680" y="2688336"/>
            <a:ext cx="1600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572000" y="24688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query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97096" y="2587752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97096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3072384"/>
            <a:ext cx="1600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6172200" y="2852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97296" y="2971800"/>
            <a:ext cx="201168" cy="2011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97296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0" y="3456432"/>
            <a:ext cx="1600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0" y="32369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97296" y="335584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97296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97480" y="3840480"/>
            <a:ext cx="1600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971800" y="36210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97096" y="373989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197096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97280" y="4224528"/>
            <a:ext cx="16002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</a:ln>
        </p:spPr>
      </p:sp>
      <p:sp>
        <p:nvSpPr>
          <p:cNvPr id="44" name="Text 42"/>
          <p:cNvSpPr txBox="1"/>
          <p:nvPr/>
        </p:nvSpPr>
        <p:spPr>
          <a:xfrm>
            <a:off x="1371600" y="40050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KPIs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96896" y="412394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96896" y="4123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DATA &amp; ANALYTICS FLOW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becomes a result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5" name="Select a view badge"/>
          <p:cNvSpPr/>
          <p:nvPr/>
        </p:nvSpPr>
        <p:spPr>
          <a:xfrm>
            <a:off x="891540" y="2354580"/>
            <a:ext cx="777240" cy="7772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6" name="Image 0" descr="Select a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548890"/>
            <a:ext cx="388620" cy="388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81328" y="2240280"/>
            <a:ext cx="274320" cy="2743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8132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elect a view"/>
          <p:cNvSpPr/>
          <p:nvPr/>
        </p:nvSpPr>
        <p:spPr>
          <a:xfrm>
            <a:off x="54864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view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64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 metric</a:t>
            </a:r>
            <a:endParaRPr lang="en-US" sz="1050" dirty="0"/>
          </a:p>
        </p:txBody>
      </p:sp>
      <p:sp>
        <p:nvSpPr>
          <p:cNvPr id="12" name="Send request badge"/>
          <p:cNvSpPr/>
          <p:nvPr/>
        </p:nvSpPr>
        <p:spPr>
          <a:xfrm>
            <a:off x="2537460" y="2354580"/>
            <a:ext cx="777240" cy="7772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13" name="Image 1" descr="Send requ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2548890"/>
            <a:ext cx="388620" cy="3886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127248" y="2240280"/>
            <a:ext cx="274320" cy="2743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12724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end request"/>
          <p:cNvSpPr/>
          <p:nvPr/>
        </p:nvSpPr>
        <p:spPr>
          <a:xfrm>
            <a:off x="2194560" y="333756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19456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19456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→ FastAPI</a:t>
            </a:r>
            <a:endParaRPr lang="en-US" sz="1050" dirty="0"/>
          </a:p>
        </p:txBody>
      </p:sp>
      <p:sp>
        <p:nvSpPr>
          <p:cNvPr id="19" name="Prepare query badge"/>
          <p:cNvSpPr/>
          <p:nvPr/>
        </p:nvSpPr>
        <p:spPr>
          <a:xfrm>
            <a:off x="4183380" y="2354580"/>
            <a:ext cx="777240" cy="7772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20" name="Image 2" descr="Prepare qu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2548890"/>
            <a:ext cx="388620" cy="3886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73168" y="2240280"/>
            <a:ext cx="274320" cy="2743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7731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Prepare query"/>
          <p:cNvSpPr/>
          <p:nvPr/>
        </p:nvSpPr>
        <p:spPr>
          <a:xfrm>
            <a:off x="384048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84048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query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840480" y="1764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</a:t>
            </a:r>
            <a:endParaRPr lang="en-US" sz="1050" dirty="0"/>
          </a:p>
        </p:txBody>
      </p:sp>
      <p:sp>
        <p:nvSpPr>
          <p:cNvPr id="26" name="Query data badge"/>
          <p:cNvSpPr/>
          <p:nvPr/>
        </p:nvSpPr>
        <p:spPr>
          <a:xfrm>
            <a:off x="5829300" y="2354580"/>
            <a:ext cx="777240" cy="7772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27" name="Image 3" descr="Query da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2548890"/>
            <a:ext cx="388620" cy="3886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19088" y="2240280"/>
            <a:ext cx="274320" cy="2743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1908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uery data"/>
          <p:cNvSpPr/>
          <p:nvPr/>
        </p:nvSpPr>
        <p:spPr>
          <a:xfrm>
            <a:off x="5486400" y="333756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486400" y="3429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 Glue on S3</a:t>
            </a:r>
            <a:endParaRPr lang="en-US" sz="1050" dirty="0"/>
          </a:p>
        </p:txBody>
      </p:sp>
      <p:sp>
        <p:nvSpPr>
          <p:cNvPr id="33" name="Render results badge"/>
          <p:cNvSpPr/>
          <p:nvPr/>
        </p:nvSpPr>
        <p:spPr>
          <a:xfrm>
            <a:off x="7475220" y="23545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Image 4" descr="Render resul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530" y="2548890"/>
            <a:ext cx="388620" cy="3886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065008" y="2240280"/>
            <a:ext cx="274320" cy="2743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06500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Render results"/>
          <p:cNvSpPr/>
          <p:nvPr/>
        </p:nvSpPr>
        <p:spPr>
          <a:xfrm>
            <a:off x="7132320" y="1325880"/>
            <a:ext cx="1463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71323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results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7132320" y="1764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charts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OPERATIONAL VALUE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helps teams understand</a:t>
            </a:r>
            <a:endParaRPr lang="en-US" sz="2400" dirty="0"/>
          </a:p>
        </p:txBody>
      </p:sp>
      <p:sp>
        <p:nvSpPr>
          <p:cNvPr id="4" name="Patient flow"/>
          <p:cNvSpPr/>
          <p:nvPr/>
        </p:nvSpPr>
        <p:spPr>
          <a:xfrm>
            <a:off x="548640" y="1371600"/>
            <a:ext cx="1508760" cy="29260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1234440" cy="54864"/>
          </a:xfrm>
          <a:prstGeom prst="rect">
            <a:avLst/>
          </a:prstGeom>
          <a:solidFill>
            <a:srgbClr val="D9634A"/>
          </a:solidFill>
          <a:ln/>
        </p:spPr>
      </p:sp>
      <p:sp>
        <p:nvSpPr>
          <p:cNvPr id="6" name="Patient flow badge"/>
          <p:cNvSpPr/>
          <p:nvPr/>
        </p:nvSpPr>
        <p:spPr>
          <a:xfrm>
            <a:off x="868680" y="1760220"/>
            <a:ext cx="868680" cy="868680"/>
          </a:xfrm>
          <a:prstGeom prst="ellipse">
            <a:avLst/>
          </a:prstGeom>
          <a:solidFill>
            <a:srgbClr val="D9634A"/>
          </a:solidFill>
          <a:ln/>
        </p:spPr>
      </p:sp>
      <p:pic>
        <p:nvPicPr>
          <p:cNvPr id="7" name="Image 0" descr="Patient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7739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291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appointments, length of stay</a:t>
            </a:r>
            <a:endParaRPr lang="en-US" sz="1100" dirty="0"/>
          </a:p>
        </p:txBody>
      </p:sp>
      <p:sp>
        <p:nvSpPr>
          <p:cNvPr id="10" name="Capacity"/>
          <p:cNvSpPr/>
          <p:nvPr/>
        </p:nvSpPr>
        <p:spPr>
          <a:xfrm>
            <a:off x="2185416" y="1371600"/>
            <a:ext cx="1508760" cy="29260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322576" y="1371600"/>
            <a:ext cx="1234440" cy="5486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2" name="Capacity badge"/>
          <p:cNvSpPr/>
          <p:nvPr/>
        </p:nvSpPr>
        <p:spPr>
          <a:xfrm>
            <a:off x="2505456" y="1760220"/>
            <a:ext cx="868680" cy="868680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3" name="Image 1" descr="Capac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26" y="197739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31136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95144" y="3291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and resource pressure</a:t>
            </a:r>
            <a:endParaRPr lang="en-US" sz="1100" dirty="0"/>
          </a:p>
        </p:txBody>
      </p:sp>
      <p:sp>
        <p:nvSpPr>
          <p:cNvPr id="16" name="Workforce"/>
          <p:cNvSpPr/>
          <p:nvPr/>
        </p:nvSpPr>
        <p:spPr>
          <a:xfrm>
            <a:off x="3822192" y="1371600"/>
            <a:ext cx="1508760" cy="29260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3959352" y="1371600"/>
            <a:ext cx="1234440" cy="54864"/>
          </a:xfrm>
          <a:prstGeom prst="rect">
            <a:avLst/>
          </a:prstGeom>
          <a:solidFill>
            <a:srgbClr val="5BB5A2"/>
          </a:solidFill>
          <a:ln/>
        </p:spPr>
      </p:sp>
      <p:sp>
        <p:nvSpPr>
          <p:cNvPr id="18" name="Workforce badge"/>
          <p:cNvSpPr/>
          <p:nvPr/>
        </p:nvSpPr>
        <p:spPr>
          <a:xfrm>
            <a:off x="4142232" y="1760220"/>
            <a:ext cx="868680" cy="868680"/>
          </a:xfrm>
          <a:prstGeom prst="ellipse">
            <a:avLst/>
          </a:prstGeom>
          <a:solidFill>
            <a:srgbClr val="5BB5A2"/>
          </a:solidFill>
          <a:ln/>
        </p:spPr>
      </p:sp>
      <p:pic>
        <p:nvPicPr>
          <p:cNvPr id="19" name="Image 2" descr="Workfor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402" y="197739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67912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3291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and utilization by department</a:t>
            </a:r>
            <a:endParaRPr lang="en-US" sz="1100" dirty="0"/>
          </a:p>
        </p:txBody>
      </p:sp>
      <p:sp>
        <p:nvSpPr>
          <p:cNvPr id="22" name="Finance"/>
          <p:cNvSpPr/>
          <p:nvPr/>
        </p:nvSpPr>
        <p:spPr>
          <a:xfrm>
            <a:off x="5458968" y="1371600"/>
            <a:ext cx="1508760" cy="29260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5596128" y="1371600"/>
            <a:ext cx="123444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Finance badge"/>
          <p:cNvSpPr/>
          <p:nvPr/>
        </p:nvSpPr>
        <p:spPr>
          <a:xfrm>
            <a:off x="5779008" y="176022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3" descr="Fin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178" y="1977390"/>
            <a:ext cx="434340" cy="4343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0468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568696" y="3291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claims and revenue</a:t>
            </a:r>
            <a:endParaRPr lang="en-US" sz="1100" dirty="0"/>
          </a:p>
        </p:txBody>
      </p:sp>
      <p:sp>
        <p:nvSpPr>
          <p:cNvPr id="28" name="Oversight"/>
          <p:cNvSpPr/>
          <p:nvPr/>
        </p:nvSpPr>
        <p:spPr>
          <a:xfrm>
            <a:off x="7095744" y="1371600"/>
            <a:ext cx="1508760" cy="292608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7232904" y="1371600"/>
            <a:ext cx="123444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Oversight badge"/>
          <p:cNvSpPr/>
          <p:nvPr/>
        </p:nvSpPr>
        <p:spPr>
          <a:xfrm>
            <a:off x="7415784" y="1760220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1" name="Image 4" descr="Overs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954" y="1977390"/>
            <a:ext cx="434340" cy="4343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41464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205472" y="3291840"/>
            <a:ext cx="1289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leaders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DECISION ANALYTICS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recommended follow-up</a:t>
            </a:r>
            <a:endParaRPr lang="en-US" sz="2400" dirty="0"/>
          </a:p>
        </p:txBody>
      </p:sp>
      <p:sp>
        <p:nvSpPr>
          <p:cNvPr id="4" name="Monitor"/>
          <p:cNvSpPr/>
          <p:nvPr/>
        </p:nvSpPr>
        <p:spPr>
          <a:xfrm>
            <a:off x="548640" y="1371600"/>
            <a:ext cx="1828800" cy="21031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Monitor badge"/>
          <p:cNvSpPr/>
          <p:nvPr/>
        </p:nvSpPr>
        <p:spPr>
          <a:xfrm>
            <a:off x="1074420" y="1623060"/>
            <a:ext cx="777240" cy="77724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6" name="Image 0" descr="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30" y="18173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98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KPIs, flag unusual changes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04872" y="2423160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Investigate"/>
          <p:cNvSpPr/>
          <p:nvPr/>
        </p:nvSpPr>
        <p:spPr>
          <a:xfrm>
            <a:off x="2624328" y="1371600"/>
            <a:ext cx="1828800" cy="21031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Investigate badge"/>
          <p:cNvSpPr/>
          <p:nvPr/>
        </p:nvSpPr>
        <p:spPr>
          <a:xfrm>
            <a:off x="3150108" y="1623060"/>
            <a:ext cx="777240" cy="777240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2" name="Image 1" descr="Investig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418" y="18173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24328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61488" y="2898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historical trends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2423160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ummarize"/>
          <p:cNvSpPr/>
          <p:nvPr/>
        </p:nvSpPr>
        <p:spPr>
          <a:xfrm>
            <a:off x="4700016" y="1371600"/>
            <a:ext cx="1828800" cy="21031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Summarize badge"/>
          <p:cNvSpPr/>
          <p:nvPr/>
        </p:nvSpPr>
        <p:spPr>
          <a:xfrm>
            <a:off x="5225796" y="1623060"/>
            <a:ext cx="777240" cy="777240"/>
          </a:xfrm>
          <a:prstGeom prst="ellipse">
            <a:avLst/>
          </a:prstGeom>
          <a:solidFill>
            <a:srgbClr val="5BB5A2"/>
          </a:solidFill>
          <a:ln/>
        </p:spPr>
      </p:sp>
      <p:pic>
        <p:nvPicPr>
          <p:cNvPr id="18" name="Image 2" descr="Summari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106" y="181737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00016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837176" y="2898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 on demand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56248" y="2423160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Decide"/>
          <p:cNvSpPr/>
          <p:nvPr/>
        </p:nvSpPr>
        <p:spPr>
          <a:xfrm>
            <a:off x="6775704" y="1371600"/>
            <a:ext cx="1828800" cy="21031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3" name="Decide badge"/>
          <p:cNvSpPr/>
          <p:nvPr/>
        </p:nvSpPr>
        <p:spPr>
          <a:xfrm>
            <a:off x="7301484" y="16230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Dec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94" y="181737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75704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912864" y="28986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review with metrics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28" name="Clinical badge"/>
          <p:cNvSpPr/>
          <p:nvPr/>
        </p:nvSpPr>
        <p:spPr>
          <a:xfrm>
            <a:off x="845820" y="38633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9" name="Image 4" descr="Clin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989070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00200" y="3749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 — it does not replace clinical judgement or act on its own.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DEPLOYMENT &amp; SECURITY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data services stay separate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2743200" cy="365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274320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280160"/>
            <a:ext cx="274320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52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0" name="React Frontend"/>
          <p:cNvSpPr/>
          <p:nvPr/>
        </p:nvSpPr>
        <p:spPr>
          <a:xfrm>
            <a:off x="731520" y="18288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11" name="Image 0" descr="React Fron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63040" y="1828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13" name="FastAPI Backend"/>
          <p:cNvSpPr/>
          <p:nvPr/>
        </p:nvSpPr>
        <p:spPr>
          <a:xfrm>
            <a:off x="731520" y="27432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pic>
        <p:nvPicPr>
          <p:cNvPr id="14" name="Image 1" descr="FastAPI 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6" name="S3 · data"/>
          <p:cNvSpPr/>
          <p:nvPr/>
        </p:nvSpPr>
        <p:spPr>
          <a:xfrm>
            <a:off x="6035040" y="178308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pic>
        <p:nvPicPr>
          <p:cNvPr id="17" name="Image 2" descr="S3 ·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data</a:t>
            </a:r>
            <a:endParaRPr lang="en-US" sz="1200" dirty="0"/>
          </a:p>
        </p:txBody>
      </p:sp>
      <p:sp>
        <p:nvSpPr>
          <p:cNvPr id="19" name="Glue · catalog"/>
          <p:cNvSpPr/>
          <p:nvPr/>
        </p:nvSpPr>
        <p:spPr>
          <a:xfrm>
            <a:off x="6035040" y="242316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pic>
        <p:nvPicPr>
          <p:cNvPr id="20" name="Image 3" descr="Glue · catal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5603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29400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· catalog</a:t>
            </a:r>
            <a:endParaRPr lang="en-US" sz="1200" dirty="0"/>
          </a:p>
        </p:txBody>
      </p:sp>
      <p:sp>
        <p:nvSpPr>
          <p:cNvPr id="22" name="Athena · query"/>
          <p:cNvSpPr/>
          <p:nvPr/>
        </p:nvSpPr>
        <p:spPr>
          <a:xfrm>
            <a:off x="6035040" y="306324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pic>
        <p:nvPicPr>
          <p:cNvPr id="23" name="Image 4" descr="Athena · que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2004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2940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· query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291840" y="2697480"/>
            <a:ext cx="25603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6" name="Text 19"/>
          <p:cNvSpPr txBox="1"/>
          <p:nvPr/>
        </p:nvSpPr>
        <p:spPr>
          <a:xfrm>
            <a:off x="329184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</a:t>
            </a:r>
            <a:endParaRPr lang="en-US" sz="1000" dirty="0"/>
          </a:p>
        </p:txBody>
      </p:sp>
      <p:sp>
        <p:nvSpPr>
          <p:cNvPr id="27" name="Lock badge"/>
          <p:cNvSpPr/>
          <p:nvPr/>
        </p:nvSpPr>
        <p:spPr>
          <a:xfrm>
            <a:off x="4297680" y="28803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5" descr="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0175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291840" y="3474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credentials</a:t>
            </a:r>
            <a:endParaRPr lang="en-US" sz="1000" dirty="0"/>
          </a:p>
        </p:txBody>
      </p:sp>
      <p:sp>
        <p:nvSpPr>
          <p:cNvPr id="30" name="Security"/>
          <p:cNvSpPr/>
          <p:nvPr/>
        </p:nvSpPr>
        <p:spPr>
          <a:xfrm>
            <a:off x="548640" y="4023360"/>
            <a:ext cx="804672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receives AWS keys or session tokens.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LIMITATIONS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4" name="Batch data, not live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1945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Batch data, not live badge"/>
          <p:cNvSpPr/>
          <p:nvPr/>
        </p:nvSpPr>
        <p:spPr>
          <a:xfrm>
            <a:off x="1394460" y="185166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Batch data, not l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206883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data, not live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CSV datasets in S3, so views are not real-time</a:t>
            </a:r>
            <a:endParaRPr lang="en-US" sz="1150" dirty="0"/>
          </a:p>
        </p:txBody>
      </p:sp>
      <p:sp>
        <p:nvSpPr>
          <p:cNvPr id="10" name="AI needs human review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463040"/>
            <a:ext cx="2194560" cy="5486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2" name="AI needs human review badge"/>
          <p:cNvSpPr/>
          <p:nvPr/>
        </p:nvSpPr>
        <p:spPr>
          <a:xfrm>
            <a:off x="4137660" y="1851660"/>
            <a:ext cx="868680" cy="868680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3" name="Image 1" descr="AI needs human 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206883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human review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support decisions and should be verified</a:t>
            </a:r>
            <a:endParaRPr lang="en-US" sz="1150" dirty="0"/>
          </a:p>
        </p:txBody>
      </p:sp>
      <p:sp>
        <p:nvSpPr>
          <p:cNvPr id="16" name="Basic access control"/>
          <p:cNvSpPr/>
          <p:nvPr/>
        </p:nvSpPr>
        <p:spPr>
          <a:xfrm>
            <a:off x="6035040" y="146304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217920" y="1463040"/>
            <a:ext cx="2194560" cy="54864"/>
          </a:xfrm>
          <a:prstGeom prst="rect">
            <a:avLst/>
          </a:prstGeom>
          <a:solidFill>
            <a:srgbClr val="D9634A"/>
          </a:solidFill>
          <a:ln/>
        </p:spPr>
      </p:sp>
      <p:sp>
        <p:nvSpPr>
          <p:cNvPr id="18" name="Basic access control badge"/>
          <p:cNvSpPr/>
          <p:nvPr/>
        </p:nvSpPr>
        <p:spPr>
          <a:xfrm>
            <a:off x="6880860" y="1851660"/>
            <a:ext cx="868680" cy="868680"/>
          </a:xfrm>
          <a:prstGeom prst="ellipse">
            <a:avLst/>
          </a:prstGeom>
          <a:solidFill>
            <a:srgbClr val="D9634A"/>
          </a:solidFill>
          <a:ln/>
        </p:spPr>
      </p:sp>
      <p:pic>
        <p:nvPicPr>
          <p:cNvPr id="19" name="Image 2" descr="Basic access contr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30" y="2068830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264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access control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audit trails are still planned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body" hasCustomPrompt="1"/>
          </p:nvPr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FUTURE ENHANCEMENTS</a:t>
            </a:r>
            <a:endParaRPr lang="en-US" sz="1000" dirty="0"/>
          </a:p>
        </p:txBody>
      </p:sp>
      <p:sp>
        <p:nvSpPr>
          <p:cNvPr id="3" name="Text 1"/>
          <p:cNvSpPr txBox="1"/>
          <p:nvPr>
            <p:ph idx="102" type="title" hasCustomPrompt="1"/>
          </p:nvPr>
        </p:nvSpPr>
        <p:spPr>
          <a:xfrm>
            <a:off x="54864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path to broader decision intelligence</a:t>
            </a:r>
            <a:endParaRPr lang="en-US" sz="2400" dirty="0"/>
          </a:p>
        </p:txBody>
      </p:sp>
      <p:sp>
        <p:nvSpPr>
          <p:cNvPr id="4" name="KPI drill-downs"/>
          <p:cNvSpPr/>
          <p:nvPr/>
        </p:nvSpPr>
        <p:spPr>
          <a:xfrm>
            <a:off x="548640" y="128016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KPI drill-downs badge"/>
          <p:cNvSpPr/>
          <p:nvPr/>
        </p:nvSpPr>
        <p:spPr>
          <a:xfrm>
            <a:off x="704088" y="1344168"/>
            <a:ext cx="420624" cy="420624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6" name="Image 0" descr="KPI drill-dow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4493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drill-downs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validated KPIs, department views</a:t>
            </a:r>
            <a:endParaRPr lang="en-US" sz="1200" dirty="0"/>
          </a:p>
        </p:txBody>
      </p:sp>
      <p:sp>
        <p:nvSpPr>
          <p:cNvPr id="9" name="Smart alerts"/>
          <p:cNvSpPr/>
          <p:nvPr/>
        </p:nvSpPr>
        <p:spPr>
          <a:xfrm>
            <a:off x="548640" y="192024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Smart alerts badge"/>
          <p:cNvSpPr/>
          <p:nvPr/>
        </p:nvSpPr>
        <p:spPr>
          <a:xfrm>
            <a:off x="704088" y="198424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Smart ale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08940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for capacity, staffing, finance</a:t>
            </a:r>
            <a:endParaRPr lang="en-US" sz="1200" dirty="0"/>
          </a:p>
        </p:txBody>
      </p:sp>
      <p:sp>
        <p:nvSpPr>
          <p:cNvPr id="14" name="Data quality"/>
          <p:cNvSpPr/>
          <p:nvPr/>
        </p:nvSpPr>
        <p:spPr>
          <a:xfrm>
            <a:off x="548640" y="256032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Data quality badge"/>
          <p:cNvSpPr/>
          <p:nvPr/>
        </p:nvSpPr>
        <p:spPr>
          <a:xfrm>
            <a:off x="704088" y="2624328"/>
            <a:ext cx="420624" cy="420624"/>
          </a:xfrm>
          <a:prstGeom prst="ellipse">
            <a:avLst/>
          </a:prstGeom>
          <a:solidFill>
            <a:srgbClr val="3B82C4"/>
          </a:solidFill>
          <a:ln/>
        </p:spPr>
      </p:sp>
      <p:pic>
        <p:nvPicPr>
          <p:cNvPr id="16" name="Image 2" descr="Data qual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7294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and pipeline monitoring</a:t>
            </a:r>
            <a:endParaRPr lang="en-US" sz="1200" dirty="0"/>
          </a:p>
        </p:txBody>
      </p:sp>
      <p:sp>
        <p:nvSpPr>
          <p:cNvPr id="19" name="Trusted AI"/>
          <p:cNvSpPr/>
          <p:nvPr/>
        </p:nvSpPr>
        <p:spPr>
          <a:xfrm>
            <a:off x="548640" y="320040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Trusted AI badge"/>
          <p:cNvSpPr/>
          <p:nvPr/>
        </p:nvSpPr>
        <p:spPr>
          <a:xfrm>
            <a:off x="704088" y="3264408"/>
            <a:ext cx="420624" cy="420624"/>
          </a:xfrm>
          <a:prstGeom prst="ellipse">
            <a:avLst/>
          </a:prstGeom>
          <a:solidFill>
            <a:srgbClr val="5BB5A2"/>
          </a:solidFill>
          <a:ln/>
        </p:spPr>
      </p:sp>
      <p:pic>
        <p:nvPicPr>
          <p:cNvPr id="21" name="Image 3" descr="Trusted A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36956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AI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384048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references and human review</a:t>
            </a:r>
            <a:endParaRPr lang="en-US" sz="1200" dirty="0"/>
          </a:p>
        </p:txBody>
      </p:sp>
      <p:sp>
        <p:nvSpPr>
          <p:cNvPr id="24" name="Governance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5" name="Governance badge"/>
          <p:cNvSpPr/>
          <p:nvPr/>
        </p:nvSpPr>
        <p:spPr>
          <a:xfrm>
            <a:off x="704088" y="3904488"/>
            <a:ext cx="420624" cy="42062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6" name="Image 4" descr="Govern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00964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84048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audit trails, access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2" type="title" hasCustomPrompt="1"/>
          </p:nvPr>
        </p:nvSpPr>
        <p:spPr>
          <a:xfrm>
            <a:off x="548640" y="10058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 Intelligence</a:t>
            </a:r>
            <a:endParaRPr lang="en-US" sz="1200" dirty="0"/>
          </a:p>
        </p:txBody>
      </p:sp>
      <p:sp>
        <p:nvSpPr>
          <p:cNvPr id="6" name="Healthcare badge"/>
          <p:cNvSpPr/>
          <p:nvPr/>
        </p:nvSpPr>
        <p:spPr>
          <a:xfrm>
            <a:off x="6903720" y="1874520"/>
            <a:ext cx="1371600" cy="1371600"/>
          </a:xfrm>
          <a:prstGeom prst="ellipse">
            <a:avLst/>
          </a:prstGeom>
          <a:solidFill>
            <a:srgbClr val="1A9AA0"/>
          </a:solidFill>
          <a:ln/>
        </p:spPr>
      </p:sp>
      <p:pic>
        <p:nvPicPr>
          <p:cNvPr id="7" name="Image 0" descr="Healthc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217420"/>
            <a:ext cx="685800" cy="685800"/>
          </a:xfrm>
          <a:prstGeom prst="rect">
            <a:avLst/>
          </a:prstGeom>
        </p:spPr>
      </p:pic>
      <p:sp>
        <p:nvSpPr>
          <p:cNvPr id="8" name="Analytics badge"/>
          <p:cNvSpPr/>
          <p:nvPr/>
        </p:nvSpPr>
        <p:spPr>
          <a:xfrm>
            <a:off x="6217920" y="82296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9" name="Image 1" descr="Analy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365760" cy="365760"/>
          </a:xfrm>
          <a:prstGeom prst="rect">
            <a:avLst/>
          </a:prstGeom>
        </p:spPr>
      </p:pic>
      <p:sp>
        <p:nvSpPr>
          <p:cNvPr id="10" name="Cloud badge"/>
          <p:cNvSpPr/>
          <p:nvPr/>
        </p:nvSpPr>
        <p:spPr>
          <a:xfrm>
            <a:off x="7863840" y="82296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1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05840"/>
            <a:ext cx="365760" cy="365760"/>
          </a:xfrm>
          <a:prstGeom prst="rect">
            <a:avLst/>
          </a:prstGeom>
        </p:spPr>
      </p:pic>
      <p:sp>
        <p:nvSpPr>
          <p:cNvPr id="12" name="Beds badge"/>
          <p:cNvSpPr/>
          <p:nvPr/>
        </p:nvSpPr>
        <p:spPr>
          <a:xfrm>
            <a:off x="6217920" y="365760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3" name="Image 3" descr="Be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365760" cy="365760"/>
          </a:xfrm>
          <a:prstGeom prst="rect">
            <a:avLst/>
          </a:prstGeom>
        </p:spPr>
      </p:pic>
      <p:sp>
        <p:nvSpPr>
          <p:cNvPr id="14" name="AI badge"/>
          <p:cNvSpPr/>
          <p:nvPr/>
        </p:nvSpPr>
        <p:spPr>
          <a:xfrm>
            <a:off x="7863840" y="3657600"/>
            <a:ext cx="731520" cy="731520"/>
          </a:xfrm>
          <a:prstGeom prst="ellipse">
            <a:avLst/>
          </a:prstGeom>
          <a:solidFill>
            <a:srgbClr val="0F2340"/>
          </a:solidFill>
          <a:ln/>
        </p:spPr>
      </p:sp>
      <p:pic>
        <p:nvPicPr>
          <p:cNvPr id="15" name="Image 4" descr="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840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dOps">
  <a:themeElements>
    <a:clrScheme name="MedOps">
      <a:dk1>
        <a:srgbClr val="0F2340"/>
      </a:dk1>
      <a:lt1>
        <a:srgbClr val="FFFFFF"/>
      </a:lt1>
      <a:dk2>
        <a:srgbClr val="1B3A5C"/>
      </a:dk2>
      <a:lt2>
        <a:srgbClr val="EEF4F7"/>
      </a:lt2>
      <a:accent1>
        <a:srgbClr val="1A9AA0"/>
      </a:accent1>
      <a:accent2>
        <a:srgbClr val="E8A33D"/>
      </a:accent2>
      <a:accent3>
        <a:srgbClr val="3B82C4"/>
      </a:accent3>
      <a:accent4>
        <a:srgbClr val="5BB5A2"/>
      </a:accent4>
      <a:accent5>
        <a:srgbClr val="D9634A"/>
      </a:accent5>
      <a:accent6>
        <a:srgbClr val="6B7A8F"/>
      </a:accent6>
      <a:hlink>
        <a:srgbClr val="1A9AA0"/>
      </a:hlink>
      <a:folHlink>
        <a:srgbClr val="6B7A8F"/>
      </a:folHlink>
    </a:clrScheme>
    <a:fontScheme name="Med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MedOps Intelligence</dc:title>
  <dc:subject>PptxGenJS Presentation</dc:subject>
  <dc:creator>PptxGenJS</dc:creator>
  <cp:lastModifiedBy>PptxGenJS</cp:lastModifiedBy>
  <cp:revision>1</cp:revision>
  <dcterms:created xsi:type="dcterms:W3CDTF">2026-10-16T08:50:53Z</dcterms:created>
  <dcterms:modified xsi:type="dcterms:W3CDTF">2026-10-16T08:50:53Z</dcterms:modified>
</cp:coreProperties>
</file>